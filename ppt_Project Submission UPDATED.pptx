
<file path=[Content_Types].xml><?xml version="1.0" encoding="utf-8"?>
<Types xmlns="http://schemas.openxmlformats.org/package/2006/content-types">
  <Default ContentType="application/xml" Extension="xml"/>
  <Default ContentType="image/png" Extension="png"/>
  <Default ContentType="image/jpeg" Extension="jpe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1.xml"/>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1.xml><?xml version="1.0" encoding="utf-8"?>
<a:tblStyleLst xmlns:a="http://schemas.openxmlformats.org/drawingml/2006/main" xmlns:r="http://schemas.openxmlformats.org/officeDocument/2006/relationships" def="{90651C3A-4460-11DB-9652-00E0816116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tableStyles" Target="tableStyles1.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careerai"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185226847"/>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RAPOLU VARUN</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23p61a67f4@vbithyd.ac.in</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u="none" strike="noStrike" cap="none" dirty="0"/>
                        <a:t>9059865932</a:t>
                      </a:r>
                      <a:endParaRPr sz="14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88" name="Google Shape;88;p2"/>
          <p:cNvSpPr txBox="1"/>
          <p:nvPr/>
        </p:nvSpPr>
        <p:spPr>
          <a:xfrm>
            <a:off x="1206164" y="1460724"/>
            <a:ext cx="10280254" cy="461665"/>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rgbClr val="000000"/>
                </a:solidFill>
                <a:latin typeface="Arial"/>
                <a:ea typeface="Arial"/>
                <a:cs typeface="Arial"/>
                <a:sym typeface="Arial"/>
              </a:rPr>
              <a:t>Domain of  Project – </a:t>
            </a:r>
            <a:r>
              <a:rPr lang="en-IN" sz="2400" dirty="0"/>
              <a:t>Education Technology , Agentic AI</a:t>
            </a:r>
            <a:endParaRPr sz="2400" b="1" i="0" u="none" strike="noStrike" cap="none" dirty="0">
              <a:solidFill>
                <a:srgbClr val="000000"/>
              </a:solidFill>
              <a:latin typeface="Arial"/>
              <a:ea typeface="Arial"/>
              <a:cs typeface="Arial"/>
              <a:sym typeface="Arial"/>
            </a:endParaRPr>
          </a:p>
        </p:txBody>
      </p:sp>
      <p:sp>
        <p:nvSpPr>
          <p:cNvPr id="89" name="Google Shape;89;p2"/>
          <p:cNvSpPr txBox="1"/>
          <p:nvPr/>
        </p:nvSpPr>
        <p:spPr>
          <a:xfrm>
            <a:off x="1206162" y="551965"/>
            <a:ext cx="9581177" cy="523180"/>
          </a:xfrm>
          <a:prstGeom prst="rect">
            <a:avLst/>
          </a:prstGeom>
          <a:noFill/>
          <a:ln>
            <a:noFill/>
          </a:ln>
        </p:spPr>
        <p:txBody>
          <a:bodyPr spcFirstLastPara="1" wrap="square" lIns="91425" tIns="45700" rIns="91425" bIns="45700" anchor="t" anchorCtr="0">
            <a:spAutoFit/>
          </a:bodyPr>
          <a:lstStyle/>
          <a:p>
            <a:pPr lvl="0"/>
            <a:r>
              <a:rPr lang="en-US" sz="2800" b="1" i="0" u="none" strike="noStrike" cap="none" dirty="0">
                <a:solidFill>
                  <a:schemeClr val="tx1"/>
                </a:solidFill>
                <a:latin typeface="+mj-lt"/>
                <a:ea typeface="Arial"/>
                <a:cs typeface="Arial"/>
                <a:sym typeface="Arial"/>
              </a:rPr>
              <a:t>Project Tile – </a:t>
            </a:r>
            <a:r>
              <a:rPr lang="en-US" sz="2800" b="1" dirty="0">
                <a:solidFill>
                  <a:schemeClr val="tx1"/>
                </a:solidFill>
                <a:latin typeface="+mj-lt"/>
                <a:ea typeface="Times New Roman"/>
                <a:cs typeface="Times New Roman"/>
                <a:sym typeface="Times New Roman"/>
              </a:rPr>
              <a:t>Agentic Career Counseling Companion</a:t>
            </a:r>
            <a:endParaRPr sz="2800" b="1" i="0" u="none" strike="noStrike" cap="none" dirty="0">
              <a:solidFill>
                <a:schemeClr val="tx1"/>
              </a:solidFill>
              <a:latin typeface="+mj-lt"/>
              <a:ea typeface="Arial"/>
              <a:cs typeface="Arial"/>
              <a:sym typeface="Arial"/>
            </a:endParaRPr>
          </a:p>
        </p:txBody>
      </p:sp>
      <p:pic>
        <p:nvPicPr>
          <p:cNvPr id="7" name="Picture 6">
            <a:extLst>
              <a:ext uri="{FF2B5EF4-FFF2-40B4-BE49-F238E27FC236}">
                <a16:creationId xmlns:a16="http://schemas.microsoft.com/office/drawing/2014/main" id="{483C008E-690F-48CD-2F44-94D833D06F7A}"/>
              </a:ext>
            </a:extLst>
          </p:cNvPr>
          <p:cNvPicPr>
            <a:picLocks noChangeAspect="1"/>
          </p:cNvPicPr>
          <p:nvPr/>
        </p:nvPicPr>
        <p:blipFill>
          <a:blip r:embed="rId3"/>
          <a:stretch>
            <a:fillRect/>
          </a:stretch>
        </p:blipFill>
        <p:spPr>
          <a:xfrm>
            <a:off x="4258297" y="3683877"/>
            <a:ext cx="751744" cy="100260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685800" y="1628527"/>
            <a:ext cx="10954512" cy="3908722"/>
          </a:xfrm>
          <a:prstGeom prst="rect">
            <a:avLst/>
          </a:prstGeom>
          <a:noFill/>
          <a:ln>
            <a:noFill/>
          </a:ln>
        </p:spPr>
        <p:txBody>
          <a:bodyPr spcFirstLastPara="1" wrap="square" lIns="91425" tIns="45700" rIns="91425" bIns="45700" anchor="t" anchorCtr="0">
            <a:spAutoFit/>
          </a:bodyPr>
          <a:lstStyle/>
          <a:p>
            <a:pPr lvl="0" algn="just"/>
            <a:r>
              <a:rPr lang="en-US" sz="2000" b="1" dirty="0"/>
              <a:t>Agentic Career Counseling Companion</a:t>
            </a:r>
            <a:endParaRPr sz="2000" dirty="0"/>
          </a:p>
          <a:p>
            <a:pPr marL="0" marR="0" lvl="0" indent="0" algn="just"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algn="just"/>
            <a:r>
              <a:rPr lang="en-IN" sz="2000" b="1" dirty="0"/>
              <a:t>The Challenge</a:t>
            </a:r>
          </a:p>
          <a:p>
            <a:pPr algn="just"/>
            <a:r>
              <a:rPr lang="en-US" sz="2000" dirty="0"/>
              <a:t>Students often struggle to make informed career decisions due to fragmented access to</a:t>
            </a:r>
          </a:p>
          <a:p>
            <a:pPr algn="just"/>
            <a:r>
              <a:rPr lang="en-US" sz="2000" dirty="0"/>
              <a:t>guidance, limited self-awareness of academic strengths, and rapidly evolving industry landscapes.</a:t>
            </a:r>
          </a:p>
          <a:p>
            <a:pPr algn="just"/>
            <a:r>
              <a:rPr lang="en-US" sz="2000" dirty="0"/>
              <a:t>Traditional counseling methods lack personalization and scalability, leading to missed opportunities and career mismatches. The challenge is to develop an intelligent, autonomous agent that continuously monitors student performance, evolving interests, and real-time labor market trends to deliver tailored career pathway suggestions. This would empower students to make confident, future-ready decisions with minimal dependency on manual intervention.</a:t>
            </a:r>
          </a:p>
          <a:p>
            <a:pPr algn="just"/>
            <a:r>
              <a:rPr lang="en-US" sz="2000" b="1" dirty="0"/>
              <a:t>Technology</a:t>
            </a:r>
            <a:r>
              <a:rPr lang="en-US" sz="2000" dirty="0"/>
              <a:t> – Use of IBM Cloud Lite services / IBM Granite is mandatory.</a:t>
            </a:r>
          </a:p>
          <a:p>
            <a:pPr algn="just"/>
            <a:endParaRPr sz="14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685800" y="839216"/>
            <a:ext cx="721461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Problem Statement </a:t>
            </a:r>
            <a:endParaRPr sz="24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629204" y="1159512"/>
            <a:ext cx="10607040" cy="3785611"/>
          </a:xfrm>
          <a:prstGeom prst="rect">
            <a:avLst/>
          </a:prstGeom>
          <a:noFill/>
          <a:ln>
            <a:noFill/>
          </a:ln>
        </p:spPr>
        <p:txBody>
          <a:bodyPr spcFirstLastPara="1" wrap="square" lIns="91425" tIns="45700" rIns="91425" bIns="45700" anchor="t" anchorCtr="0">
            <a:spAutoFit/>
          </a:bodyPr>
          <a:lstStyle/>
          <a:p>
            <a:pPr algn="just"/>
            <a:endParaRPr lang="en-IN" sz="2000" b="1" dirty="0"/>
          </a:p>
          <a:p>
            <a:pPr algn="just"/>
            <a:r>
              <a:rPr lang="en-IN" sz="2000" dirty="0"/>
              <a:t>The </a:t>
            </a:r>
            <a:r>
              <a:rPr lang="en-IN" sz="2000" b="1" dirty="0"/>
              <a:t>Agentic Career </a:t>
            </a:r>
            <a:r>
              <a:rPr lang="en-IN" sz="2000" b="1" dirty="0" err="1"/>
              <a:t>Counseling</a:t>
            </a:r>
            <a:r>
              <a:rPr lang="en-IN" sz="2000" b="1" dirty="0"/>
              <a:t> Companion</a:t>
            </a:r>
            <a:r>
              <a:rPr lang="en-IN" sz="2000" dirty="0"/>
              <a:t> is an AI-powered, multi-agent career guidance platform that leverages </a:t>
            </a:r>
            <a:r>
              <a:rPr lang="en-IN" sz="2000" b="1" dirty="0"/>
              <a:t>IBM Cloud Lite</a:t>
            </a:r>
            <a:r>
              <a:rPr lang="en-IN" sz="2000" dirty="0"/>
              <a:t> and </a:t>
            </a:r>
            <a:r>
              <a:rPr lang="en-IN" sz="2000" b="1" dirty="0"/>
              <a:t>IBM Granite</a:t>
            </a:r>
            <a:r>
              <a:rPr lang="en-IN" sz="2000" dirty="0"/>
              <a:t> foundation models to provide personalized, autonomous, and data-driven career </a:t>
            </a:r>
            <a:r>
              <a:rPr lang="en-IN" sz="2000" dirty="0" err="1"/>
              <a:t>counseling</a:t>
            </a:r>
            <a:r>
              <a:rPr lang="en-IN" sz="2000" dirty="0"/>
              <a:t>. The system continuously </a:t>
            </a:r>
            <a:r>
              <a:rPr lang="en-IN" sz="2000" dirty="0" err="1"/>
              <a:t>analyzes</a:t>
            </a:r>
            <a:r>
              <a:rPr lang="en-IN" sz="2000" dirty="0"/>
              <a:t> a student's academic performance, skills, interests, certifications, and extracurricular activities while incorporating real-time </a:t>
            </a:r>
            <a:r>
              <a:rPr lang="en-IN" sz="2000" dirty="0" err="1"/>
              <a:t>labor</a:t>
            </a:r>
            <a:r>
              <a:rPr lang="en-IN" sz="2000" dirty="0"/>
              <a:t> market insights to recommend the most suitable career pathways.</a:t>
            </a:r>
          </a:p>
          <a:p>
            <a:pPr algn="just"/>
            <a:r>
              <a:rPr lang="en-IN" sz="2000" dirty="0"/>
              <a:t>Using a </a:t>
            </a:r>
            <a:r>
              <a:rPr lang="en-IN" sz="2000" b="1" dirty="0"/>
              <a:t>Retrieval-Augmented Generation (RAG)</a:t>
            </a:r>
            <a:r>
              <a:rPr lang="en-IN" sz="2000" dirty="0"/>
              <a:t> architecture, the platform retrieves trusted information on careers, higher education opportunities, certifications, industry trends, and in-demand skills from reliable knowledge sources. IBM Granite processes this information to generate personalized recommendations, explain career options, identify skill gaps, and create actionable learning roadmaps.</a:t>
            </a:r>
          </a:p>
        </p:txBody>
      </p:sp>
      <p:sp>
        <p:nvSpPr>
          <p:cNvPr id="102" name="Google Shape;102;p35"/>
          <p:cNvSpPr txBox="1"/>
          <p:nvPr/>
        </p:nvSpPr>
        <p:spPr>
          <a:xfrm>
            <a:off x="629204" y="736916"/>
            <a:ext cx="721461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Proposed Solution -</a:t>
            </a:r>
            <a:endParaRPr sz="28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23672"/>
            <a:ext cx="712317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Technology Used</a:t>
            </a:r>
            <a:endParaRPr sz="2800" b="1" i="0" u="none" strike="noStrike" cap="none" dirty="0">
              <a:solidFill>
                <a:srgbClr val="000000"/>
              </a:solidFill>
              <a:latin typeface="Arial"/>
              <a:ea typeface="Arial"/>
              <a:cs typeface="Arial"/>
              <a:sym typeface="Arial"/>
            </a:endParaRPr>
          </a:p>
        </p:txBody>
      </p:sp>
      <p:sp>
        <p:nvSpPr>
          <p:cNvPr id="108" name="Google Shape;108;p36"/>
          <p:cNvSpPr txBox="1"/>
          <p:nvPr/>
        </p:nvSpPr>
        <p:spPr>
          <a:xfrm>
            <a:off x="695960" y="1054608"/>
            <a:ext cx="10515600" cy="6617156"/>
          </a:xfrm>
          <a:prstGeom prst="rect">
            <a:avLst/>
          </a:prstGeom>
          <a:noFill/>
          <a:ln>
            <a:noFill/>
          </a:ln>
        </p:spPr>
        <p:txBody>
          <a:bodyPr spcFirstLastPara="1" wrap="square" lIns="91425" tIns="45700" rIns="91425" bIns="45700" anchor="t" anchorCtr="0">
            <a:spAutoFit/>
          </a:bodyPr>
          <a:lstStyle/>
          <a:p>
            <a:pPr marL="342900" indent="-342900" algn="just">
              <a:buFont typeface="Arial" panose="020B0604020202020204" pitchFamily="34" charset="0"/>
              <a:buChar char="•"/>
            </a:pPr>
            <a:r>
              <a:rPr lang="en-IN" sz="2000" b="1" dirty="0"/>
              <a:t>IBM Cloud Lite</a:t>
            </a:r>
            <a:r>
              <a:rPr lang="en-IN" sz="2000" dirty="0"/>
              <a:t> – Provides a free cloud platform to build, deploy, and manage the AI-powered career </a:t>
            </a:r>
            <a:r>
              <a:rPr lang="en-IN" sz="2000" dirty="0" err="1"/>
              <a:t>counseling</a:t>
            </a:r>
            <a:r>
              <a:rPr lang="en-IN" sz="2000" dirty="0"/>
              <a:t> application.</a:t>
            </a:r>
          </a:p>
          <a:p>
            <a:pPr marL="342900" indent="-342900" algn="just">
              <a:buFont typeface="Arial" panose="020B0604020202020204" pitchFamily="34" charset="0"/>
              <a:buChar char="•"/>
            </a:pPr>
            <a:r>
              <a:rPr lang="en-IN" sz="2000" b="1" dirty="0"/>
              <a:t>IBM Granite Foundation Model</a:t>
            </a:r>
            <a:r>
              <a:rPr lang="en-IN" sz="2000" dirty="0"/>
              <a:t> – Powers natural language understanding, reasoning, and personalized career recommendations.</a:t>
            </a:r>
          </a:p>
          <a:p>
            <a:pPr marL="342900" indent="-342900" algn="just">
              <a:buFont typeface="Arial" panose="020B0604020202020204" pitchFamily="34" charset="0"/>
              <a:buChar char="•"/>
            </a:pPr>
            <a:r>
              <a:rPr lang="en-IN" sz="2000" b="1" dirty="0"/>
              <a:t>IBM Watsonx.ai</a:t>
            </a:r>
            <a:r>
              <a:rPr lang="en-IN" sz="2000" dirty="0"/>
              <a:t> – Enables AI model deployment, prompt engineering, embeddings, and responsible AI development.</a:t>
            </a:r>
          </a:p>
          <a:p>
            <a:pPr marL="342900" indent="-342900" algn="just">
              <a:buFont typeface="Arial" panose="020B0604020202020204" pitchFamily="34" charset="0"/>
              <a:buChar char="•"/>
            </a:pPr>
            <a:r>
              <a:rPr lang="en-IN" sz="2000" b="1" dirty="0"/>
              <a:t>Multi-Agent AI Architecture</a:t>
            </a:r>
            <a:r>
              <a:rPr lang="en-IN" sz="2000" dirty="0"/>
              <a:t> – Uses specialized AI agents that collaborate to </a:t>
            </a:r>
            <a:r>
              <a:rPr lang="en-IN" sz="2000" dirty="0" err="1"/>
              <a:t>analyze</a:t>
            </a:r>
            <a:r>
              <a:rPr lang="en-IN" sz="2000" dirty="0"/>
              <a:t> student profiles, recommend careers, and monitor industry trends.</a:t>
            </a:r>
          </a:p>
          <a:p>
            <a:pPr marL="342900" indent="-342900" algn="just">
              <a:buFont typeface="Arial" panose="020B0604020202020204" pitchFamily="34" charset="0"/>
              <a:buChar char="•"/>
            </a:pPr>
            <a:r>
              <a:rPr lang="en-IN" sz="2000" b="1" dirty="0"/>
              <a:t>Python</a:t>
            </a:r>
            <a:r>
              <a:rPr lang="en-IN" sz="2000" dirty="0"/>
              <a:t> – Serves as the primary programming language for developing the AI application and backend services.</a:t>
            </a:r>
          </a:p>
          <a:p>
            <a:pPr marL="342900" indent="-342900" algn="just">
              <a:buFont typeface="Arial" panose="020B0604020202020204" pitchFamily="34" charset="0"/>
              <a:buChar char="•"/>
            </a:pPr>
            <a:r>
              <a:rPr lang="en-IN" sz="2000" b="1" dirty="0"/>
              <a:t>Flask / </a:t>
            </a:r>
            <a:r>
              <a:rPr lang="en-IN" sz="2000" b="1" dirty="0" err="1"/>
              <a:t>FastAPI</a:t>
            </a:r>
            <a:r>
              <a:rPr lang="en-IN" sz="2000" b="1" dirty="0"/>
              <a:t> (Backend)</a:t>
            </a:r>
            <a:r>
              <a:rPr lang="en-IN" sz="2000" dirty="0"/>
              <a:t> – Provides lightweight and efficient APIs to connect the frontend, AI models, and databases.</a:t>
            </a:r>
          </a:p>
          <a:p>
            <a:pPr marL="342900" indent="-342900" algn="just">
              <a:buFont typeface="Arial" panose="020B0604020202020204" pitchFamily="34" charset="0"/>
              <a:buChar char="•"/>
            </a:pPr>
            <a:r>
              <a:rPr lang="en-IN" sz="2000" b="1" dirty="0"/>
              <a:t>React.js (Frontend)</a:t>
            </a:r>
            <a:r>
              <a:rPr lang="en-IN" sz="2000" dirty="0"/>
              <a:t> – Builds an interactive, responsive, and user-friendly interface for students and </a:t>
            </a:r>
            <a:r>
              <a:rPr lang="en-IN" sz="2000" dirty="0" err="1"/>
              <a:t>counselors</a:t>
            </a:r>
            <a:r>
              <a:rPr lang="en-IN" sz="2000" dirty="0"/>
              <a:t>.</a:t>
            </a:r>
          </a:p>
          <a:p>
            <a:pPr marL="342900" indent="-342900" algn="just">
              <a:buFont typeface="Arial" panose="020B0604020202020204" pitchFamily="34" charset="0"/>
              <a:buChar char="•"/>
            </a:pPr>
            <a:r>
              <a:rPr lang="en-IN" sz="2000" b="1" dirty="0"/>
              <a:t>IBM Cloud Object Storage / </a:t>
            </a:r>
            <a:r>
              <a:rPr lang="en-IN" sz="2000" b="1" dirty="0" err="1"/>
              <a:t>Cloudant</a:t>
            </a:r>
            <a:r>
              <a:rPr lang="en-IN" sz="2000" b="1" dirty="0"/>
              <a:t> Database</a:t>
            </a:r>
            <a:r>
              <a:rPr lang="en-IN" sz="2000" dirty="0"/>
              <a:t> – Securely stores student data, career resources, and application information.</a:t>
            </a:r>
          </a:p>
          <a:p>
            <a:pPr marL="342900" indent="-342900" algn="just">
              <a:buFont typeface="Arial" panose="020B0604020202020204" pitchFamily="34" charset="0"/>
              <a:buChar char="•"/>
            </a:pPr>
            <a:r>
              <a:rPr lang="en-IN" sz="2000" b="1" dirty="0"/>
              <a:t>Git &amp; GitHub</a:t>
            </a:r>
            <a:r>
              <a:rPr lang="en-IN" sz="2000" dirty="0"/>
              <a:t> – Used for version control, collaboration, and source code management throughout the project.</a:t>
            </a: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
          <p:cNvSpPr/>
          <p:nvPr/>
        </p:nvSpPr>
        <p:spPr>
          <a:xfrm>
            <a:off x="2264331" y="6784578"/>
            <a:ext cx="2140800" cy="224100"/>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199" name="Google Shape;199;p1"/>
          <p:cNvSpPr/>
          <p:nvPr/>
        </p:nvSpPr>
        <p:spPr>
          <a:xfrm>
            <a:off x="1782604" y="7100213"/>
            <a:ext cx="3104100" cy="732000"/>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200" name="Google Shape;200;p1"/>
          <p:cNvSpPr/>
          <p:nvPr/>
        </p:nvSpPr>
        <p:spPr>
          <a:xfrm>
            <a:off x="5732383" y="6784578"/>
            <a:ext cx="1794000" cy="224100"/>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201" name="Google Shape;201;p1"/>
          <p:cNvSpPr/>
          <p:nvPr/>
        </p:nvSpPr>
        <p:spPr>
          <a:xfrm>
            <a:off x="5077301" y="7100213"/>
            <a:ext cx="3104100" cy="732000"/>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202" name="Google Shape;202;p1"/>
          <p:cNvSpPr/>
          <p:nvPr/>
        </p:nvSpPr>
        <p:spPr>
          <a:xfrm>
            <a:off x="9027081" y="6784578"/>
            <a:ext cx="1794000" cy="224100"/>
          </a:xfrm>
          <a:prstGeom prst="rect">
            <a:avLst/>
          </a:prstGeom>
          <a:noFill/>
          <a:ln>
            <a:noFill/>
          </a:ln>
        </p:spPr>
        <p:txBody>
          <a:bodyPr anchorCtr="0" anchor="t" bIns="0" lIns="0" spcFirstLastPara="1" rIns="0" wrap="square" tIns="0">
            <a:noAutofit/>
          </a:bodyPr>
          <a:lstStyle/>
          <a:p>
            <a:pPr indent="0" lvl="0" marL="0" marR="0" rtl="0" algn="ctr">
              <a:lnSpc>
                <a:spcPct val="109375"/>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203" name="Google Shape;203;p1"/>
          <p:cNvSpPr/>
          <p:nvPr/>
        </p:nvSpPr>
        <p:spPr>
          <a:xfrm>
            <a:off x="8371999" y="7100213"/>
            <a:ext cx="3104100" cy="732000"/>
          </a:xfrm>
          <a:prstGeom prst="rect">
            <a:avLst/>
          </a:prstGeom>
          <a:noFill/>
          <a:ln>
            <a:noFill/>
          </a:ln>
        </p:spPr>
        <p:txBody>
          <a:bodyPr anchorCtr="0" anchor="t" bIns="0" lIns="0" spcFirstLastPara="1" rIns="0" wrap="square" tIns="0">
            <a:noAutofit/>
          </a:bodyPr>
          <a:lstStyle/>
          <a:p>
            <a:pPr indent="0" lvl="0" marL="0" marR="0" rtl="0" algn="ctr">
              <a:lnSpc>
                <a:spcPct val="118750"/>
              </a:lnSpc>
              <a:spcBef>
                <a:spcPts val="0"/>
              </a:spcBef>
              <a:spcAft>
                <a:spcPts val="0"/>
              </a:spcAft>
              <a:buClr>
                <a:schemeClr val="dk1"/>
              </a:buClr>
              <a:buSzPts val="1600"/>
              <a:buFont typeface="Calibri"/>
              <a:buNone/>
            </a:pPr>
            <a:r>
              <a:t/>
            </a:r>
            <a:endParaRPr b="0" i="0" sz="1600" u="none" cap="none" strike="noStrike">
              <a:solidFill>
                <a:srgbClr val="000000"/>
              </a:solidFill>
              <a:latin typeface="Times New Roman"/>
              <a:ea typeface="Times New Roman"/>
              <a:cs typeface="Times New Roman"/>
              <a:sym typeface="Times New Roman"/>
            </a:endParaRPr>
          </a:p>
        </p:txBody>
      </p:sp>
      <p:sp>
        <p:nvSpPr>
          <p:cNvPr id="204" name="Google Shape;204;p1"/>
          <p:cNvSpPr txBox="1"/>
          <p:nvPr/>
        </p:nvSpPr>
        <p:spPr>
          <a:xfrm>
            <a:off x="901015" y="783553"/>
            <a:ext cx="8823900" cy="676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a:p>
          <a:p>
            <a:pPr indent="0" lvl="0" marL="0" marR="0" rtl="0" algn="l">
              <a:lnSpc>
                <a:spcPct val="100000"/>
              </a:lnSpc>
              <a:spcBef>
                <a:spcPts val="0"/>
              </a:spcBef>
              <a:spcAft>
                <a:spcPts val="0"/>
              </a:spcAft>
              <a:buNone/>
            </a:pPr>
            <a:r>
              <a:rPr b="1" i="0" lang="en-IN" sz="2000" u="none" cap="none" strike="noStrike">
                <a:solidFill>
                  <a:srgbClr val="000000"/>
                </a:solidFill>
                <a:latin typeface="Arial"/>
                <a:ea typeface="Arial"/>
                <a:cs typeface="Arial"/>
                <a:sym typeface="Arial"/>
              </a:rPr>
              <a:t>Chat Input</a:t>
            </a:r>
            <a:r>
              <a:rPr b="0" i="0" lang="en-IN" sz="2000" u="none" cap="none" strike="noStrike">
                <a:solidFill>
                  <a:srgbClr val="000000"/>
                </a:solidFill>
                <a:latin typeface="Arial"/>
                <a:ea typeface="Arial"/>
                <a:cs typeface="Arial"/>
                <a:sym typeface="Arial"/>
              </a:rPr>
              <a:t> – Accepts student queries and career-related information.</a:t>
            </a:r>
            <a:endParaRPr/>
          </a:p>
          <a:p>
            <a:pPr indent="0" lvl="0" marL="0" marR="0" rtl="0" algn="l">
              <a:lnSpc>
                <a:spcPct val="100000"/>
              </a:lnSpc>
              <a:spcBef>
                <a:spcPts val="0"/>
              </a:spcBef>
              <a:spcAft>
                <a:spcPts val="0"/>
              </a:spcAft>
              <a:buNone/>
            </a:pPr>
            <a:r>
              <a:rPr b="1" i="0" lang="en-IN" sz="2000" u="none" cap="none" strike="noStrike">
                <a:solidFill>
                  <a:srgbClr val="000000"/>
                </a:solidFill>
                <a:latin typeface="Arial"/>
                <a:ea typeface="Arial"/>
                <a:cs typeface="Arial"/>
                <a:sym typeface="Arial"/>
              </a:rPr>
              <a:t>IBM Granite LLM</a:t>
            </a:r>
            <a:r>
              <a:rPr b="0" i="0" lang="en-IN" sz="2000" u="none" cap="none" strike="noStrike">
                <a:solidFill>
                  <a:srgbClr val="000000"/>
                </a:solidFill>
                <a:latin typeface="Arial"/>
                <a:ea typeface="Arial"/>
                <a:cs typeface="Arial"/>
                <a:sym typeface="Arial"/>
              </a:rPr>
              <a:t> – Generates career recommendations and answers using the Granite foundation model.</a:t>
            </a:r>
            <a:endParaRPr/>
          </a:p>
          <a:p>
            <a:pPr indent="0" lvl="0" marL="0" marR="0" rtl="0" algn="l">
              <a:lnSpc>
                <a:spcPct val="100000"/>
              </a:lnSpc>
              <a:spcBef>
                <a:spcPts val="0"/>
              </a:spcBef>
              <a:spcAft>
                <a:spcPts val="0"/>
              </a:spcAft>
              <a:buNone/>
            </a:pPr>
            <a:r>
              <a:rPr b="1" i="0" lang="en-IN" sz="2000" u="none" cap="none" strike="noStrike">
                <a:solidFill>
                  <a:srgbClr val="000000"/>
                </a:solidFill>
                <a:latin typeface="Arial"/>
                <a:ea typeface="Arial"/>
                <a:cs typeface="Arial"/>
                <a:sym typeface="Arial"/>
              </a:rPr>
              <a:t>RAG Pipeline</a:t>
            </a:r>
            <a:r>
              <a:rPr b="0" i="0" lang="en-IN" sz="2000" u="none" cap="none" strike="noStrike">
                <a:solidFill>
                  <a:srgbClr val="000000"/>
                </a:solidFill>
                <a:latin typeface="Arial"/>
                <a:ea typeface="Arial"/>
                <a:cs typeface="Arial"/>
                <a:sym typeface="Arial"/>
              </a:rPr>
              <a:t> – Retrieves relevant career, course, and job market information before response generation.</a:t>
            </a:r>
            <a:endParaRPr/>
          </a:p>
          <a:p>
            <a:pPr indent="0" lvl="0" marL="0" marR="0" rtl="0" algn="l">
              <a:lnSpc>
                <a:spcPct val="100000"/>
              </a:lnSpc>
              <a:spcBef>
                <a:spcPts val="0"/>
              </a:spcBef>
              <a:spcAft>
                <a:spcPts val="0"/>
              </a:spcAft>
              <a:buNone/>
            </a:pPr>
            <a:r>
              <a:rPr b="1" i="0" lang="en-IN" sz="2000" u="none" cap="none" strike="noStrike">
                <a:solidFill>
                  <a:srgbClr val="000000"/>
                </a:solidFill>
                <a:latin typeface="Arial"/>
                <a:ea typeface="Arial"/>
                <a:cs typeface="Arial"/>
                <a:sym typeface="Arial"/>
              </a:rPr>
              <a:t>Vector Store (FAISS/Chroma)</a:t>
            </a:r>
            <a:r>
              <a:rPr b="0" i="0" lang="en-IN" sz="2000" u="none" cap="none" strike="noStrike">
                <a:solidFill>
                  <a:srgbClr val="000000"/>
                </a:solidFill>
                <a:latin typeface="Arial"/>
                <a:ea typeface="Arial"/>
                <a:cs typeface="Arial"/>
                <a:sym typeface="Arial"/>
              </a:rPr>
              <a:t> – Stores and retrieves career knowledge efficiently for RAG.</a:t>
            </a:r>
            <a:endParaRPr/>
          </a:p>
          <a:p>
            <a:pPr indent="0" lvl="0" marL="0" marR="0" rtl="0" algn="l">
              <a:lnSpc>
                <a:spcPct val="100000"/>
              </a:lnSpc>
              <a:spcBef>
                <a:spcPts val="0"/>
              </a:spcBef>
              <a:spcAft>
                <a:spcPts val="0"/>
              </a:spcAft>
              <a:buNone/>
            </a:pPr>
            <a:r>
              <a:rPr b="1" i="0" lang="en-IN" sz="2000" u="none" cap="none" strike="noStrike">
                <a:solidFill>
                  <a:srgbClr val="000000"/>
                </a:solidFill>
                <a:latin typeface="Arial"/>
                <a:ea typeface="Arial"/>
                <a:cs typeface="Arial"/>
                <a:sym typeface="Arial"/>
              </a:rPr>
              <a:t>Output Parser</a:t>
            </a:r>
            <a:r>
              <a:rPr b="0" i="0" lang="en-IN" sz="2000" u="none" cap="none" strike="noStrike">
                <a:solidFill>
                  <a:srgbClr val="000000"/>
                </a:solidFill>
                <a:latin typeface="Arial"/>
                <a:ea typeface="Arial"/>
                <a:cs typeface="Arial"/>
                <a:sym typeface="Arial"/>
              </a:rPr>
              <a:t> – Formats AI responses into clear, user-friendly career guidance.</a:t>
            </a:r>
            <a:endParaRPr/>
          </a:p>
          <a:p>
            <a:pPr indent="0" lvl="0" marL="0" marR="0" rtl="0" algn="l">
              <a:lnSpc>
                <a:spcPct val="100000"/>
              </a:lnSpc>
              <a:spcBef>
                <a:spcPts val="0"/>
              </a:spcBef>
              <a:spcAft>
                <a:spcPts val="0"/>
              </a:spcAft>
              <a:buNone/>
            </a:pPr>
            <a:r>
              <a:rPr b="1" i="0" lang="en-IN" sz="2000" u="none" cap="none" strike="noStrike">
                <a:solidFill>
                  <a:srgbClr val="000000"/>
                </a:solidFill>
                <a:latin typeface="Arial"/>
                <a:ea typeface="Arial"/>
                <a:cs typeface="Arial"/>
                <a:sym typeface="Arial"/>
              </a:rPr>
              <a:t>API Component</a:t>
            </a:r>
            <a:r>
              <a:rPr b="0" i="0" lang="en-IN" sz="2000" u="none" cap="none" strike="noStrike">
                <a:solidFill>
                  <a:srgbClr val="000000"/>
                </a:solidFill>
                <a:latin typeface="Arial"/>
                <a:ea typeface="Arial"/>
                <a:cs typeface="Arial"/>
                <a:sym typeface="Arial"/>
              </a:rPr>
              <a:t> – Connects Langflow workflows with the frontend and backend application.</a:t>
            </a:r>
            <a:endParaRPr/>
          </a:p>
          <a:p>
            <a:pPr indent="0" lvl="0" marL="0" marR="0" rtl="0" algn="l">
              <a:lnSpc>
                <a:spcPct val="100000"/>
              </a:lnSpc>
              <a:spcBef>
                <a:spcPts val="0"/>
              </a:spcBef>
              <a:spcAft>
                <a:spcPts val="0"/>
              </a:spcAft>
              <a:buNone/>
            </a:pPr>
            <a:r>
              <a:rPr b="1" i="0" lang="en-IN" sz="2000" u="none" cap="none" strike="noStrike">
                <a:solidFill>
                  <a:srgbClr val="000000"/>
                </a:solidFill>
                <a:latin typeface="Arial"/>
                <a:ea typeface="Arial"/>
                <a:cs typeface="Arial"/>
                <a:sym typeface="Arial"/>
              </a:rPr>
              <a:t>Memory Component</a:t>
            </a:r>
            <a:r>
              <a:rPr b="0" i="0" lang="en-IN" sz="2000" u="none" cap="none" strike="noStrike">
                <a:solidFill>
                  <a:srgbClr val="000000"/>
                </a:solidFill>
                <a:latin typeface="Arial"/>
                <a:ea typeface="Arial"/>
                <a:cs typeface="Arial"/>
                <a:sym typeface="Arial"/>
              </a:rPr>
              <a:t> – Maintains conversation history to provide personalized and context-aware counseling.</a:t>
            </a:r>
            <a:endParaRPr/>
          </a:p>
          <a:p>
            <a:pPr indent="-254000" lvl="0" marL="342900" marR="0" rtl="0" algn="l">
              <a:lnSpc>
                <a:spcPct val="100000"/>
              </a:lnSpc>
              <a:spcBef>
                <a:spcPts val="0"/>
              </a:spcBef>
              <a:spcAft>
                <a:spcPts val="0"/>
              </a:spcAft>
              <a:buClr>
                <a:srgbClr val="000000"/>
              </a:buClr>
              <a:buSzPts val="14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0" i="0" lang="en-IN" sz="2000" u="none" cap="none" strike="noStrike">
                <a:solidFill>
                  <a:srgbClr val="000000"/>
                </a:solidFill>
                <a:latin typeface="Arial"/>
                <a:ea typeface="Arial"/>
                <a:cs typeface="Arial"/>
                <a:sym typeface="Arial"/>
              </a:rPr>
              <a:t> </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5570" y="4248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dirty="0"/>
              <a:t>Project Output - </a:t>
            </a:r>
            <a:r>
              <a:rPr lang="en-US" sz="2000" b="1" dirty="0"/>
              <a:t>Dashboard</a:t>
            </a:r>
            <a:endParaRPr sz="2000" b="1" i="0" u="none" strike="noStrike" cap="none" dirty="0">
              <a:solidFill>
                <a:srgbClr val="000000"/>
              </a:solidFill>
              <a:latin typeface="Arial"/>
              <a:ea typeface="Arial"/>
              <a:cs typeface="Arial"/>
              <a:sym typeface="Arial"/>
            </a:endParaRPr>
          </a:p>
        </p:txBody>
      </p:sp>
      <p:pic>
        <p:nvPicPr>
          <p:cNvPr id="5" name="Picture 4">
            <a:extLst>
              <a:ext uri="{FF2B5EF4-FFF2-40B4-BE49-F238E27FC236}">
                <a16:creationId xmlns:a16="http://schemas.microsoft.com/office/drawing/2014/main" id="{A56D0A28-4770-FC0B-091C-1C49F9AC0D1C}"/>
              </a:ext>
            </a:extLst>
          </p:cNvPr>
          <p:cNvPicPr>
            <a:picLocks noChangeAspect="1"/>
          </p:cNvPicPr>
          <p:nvPr/>
        </p:nvPicPr>
        <p:blipFill>
          <a:blip r:embed="rId3"/>
          <a:stretch>
            <a:fillRect/>
          </a:stretch>
        </p:blipFill>
        <p:spPr>
          <a:xfrm>
            <a:off x="1125220" y="1158955"/>
            <a:ext cx="9941560" cy="537392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00" b="1" i="0" u="none" strike="noStrike" cap="none" dirty="0">
                <a:solidFill>
                  <a:schemeClr val="dk1"/>
                </a:solidFill>
                <a:latin typeface="+mj-lt"/>
                <a:ea typeface="Calibri"/>
                <a:cs typeface="Calibri"/>
                <a:sym typeface="Calibri"/>
              </a:rPr>
              <a:t>Career Pathway</a:t>
            </a:r>
            <a:endParaRPr sz="2800" b="0" i="0" u="none" strike="noStrike" cap="none" dirty="0">
              <a:solidFill>
                <a:srgbClr val="000000"/>
              </a:solidFill>
              <a:latin typeface="+mj-lt"/>
              <a:ea typeface="Arial"/>
              <a:cs typeface="Arial"/>
              <a:sym typeface="Arial"/>
            </a:endParaRPr>
          </a:p>
        </p:txBody>
      </p:sp>
      <p:pic>
        <p:nvPicPr>
          <p:cNvPr id="3" name="Picture 2">
            <a:extLst>
              <a:ext uri="{FF2B5EF4-FFF2-40B4-BE49-F238E27FC236}">
                <a16:creationId xmlns:a16="http://schemas.microsoft.com/office/drawing/2014/main" id="{8FD34D93-2325-A8FD-E8B4-C1754CCBCA7F}"/>
              </a:ext>
            </a:extLst>
          </p:cNvPr>
          <p:cNvPicPr>
            <a:picLocks noChangeAspect="1"/>
          </p:cNvPicPr>
          <p:nvPr/>
        </p:nvPicPr>
        <p:blipFill>
          <a:blip r:embed="rId3"/>
          <a:stretch>
            <a:fillRect/>
          </a:stretch>
        </p:blipFill>
        <p:spPr>
          <a:xfrm>
            <a:off x="1088342" y="1148080"/>
            <a:ext cx="10015315" cy="51016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C94F6-27F5-274D-82C5-5D1FFC00A2F4}"/>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ADCEC4F2-86E1-8BA3-C67B-47441709140C}"/>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B8DEF132-861D-140E-27A8-75AE1EA8D49C}"/>
              </a:ext>
            </a:extLst>
          </p:cNvPr>
          <p:cNvPicPr>
            <a:picLocks noChangeAspect="1"/>
          </p:cNvPicPr>
          <p:nvPr/>
        </p:nvPicPr>
        <p:blipFill>
          <a:blip r:embed="rId2"/>
          <a:stretch>
            <a:fillRect/>
          </a:stretch>
        </p:blipFill>
        <p:spPr>
          <a:xfrm>
            <a:off x="1401508" y="365125"/>
            <a:ext cx="9612337" cy="5974080"/>
          </a:xfrm>
          <a:prstGeom prst="rect">
            <a:avLst/>
          </a:prstGeom>
        </p:spPr>
      </p:pic>
    </p:spTree>
    <p:extLst>
      <p:ext uri="{BB962C8B-B14F-4D97-AF65-F5344CB8AC3E}">
        <p14:creationId xmlns:p14="http://schemas.microsoft.com/office/powerpoint/2010/main" val="2600832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6A05B-0EA6-32B4-4C2A-EC8B3D66454D}"/>
              </a:ext>
            </a:extLst>
          </p:cNvPr>
          <p:cNvSpPr>
            <a:spLocks noGrp="1"/>
          </p:cNvSpPr>
          <p:nvPr>
            <p:ph type="title"/>
          </p:nvPr>
        </p:nvSpPr>
        <p:spPr>
          <a:xfrm>
            <a:off x="574040" y="0"/>
            <a:ext cx="10515600" cy="1325563"/>
          </a:xfrm>
        </p:spPr>
        <p:txBody>
          <a:bodyPr>
            <a:normAutofit/>
          </a:bodyPr>
          <a:lstStyle/>
          <a:p>
            <a:r>
              <a:rPr lang="en-IN" sz="2800" b="1" dirty="0">
                <a:latin typeface="+mj-lt"/>
              </a:rPr>
              <a:t>Chat Advisor</a:t>
            </a:r>
          </a:p>
        </p:txBody>
      </p:sp>
      <p:sp>
        <p:nvSpPr>
          <p:cNvPr id="3" name="Text Placeholder 2">
            <a:extLst>
              <a:ext uri="{FF2B5EF4-FFF2-40B4-BE49-F238E27FC236}">
                <a16:creationId xmlns:a16="http://schemas.microsoft.com/office/drawing/2014/main" id="{5EFAD2F3-92F8-B1B1-D684-DC35C993BD71}"/>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DAFA2C81-B4B0-348C-02B0-CB8B4551FCC2}"/>
              </a:ext>
            </a:extLst>
          </p:cNvPr>
          <p:cNvPicPr>
            <a:picLocks noChangeAspect="1"/>
          </p:cNvPicPr>
          <p:nvPr/>
        </p:nvPicPr>
        <p:blipFill>
          <a:blip r:embed="rId2"/>
          <a:stretch>
            <a:fillRect/>
          </a:stretch>
        </p:blipFill>
        <p:spPr>
          <a:xfrm>
            <a:off x="1399540" y="1229677"/>
            <a:ext cx="9392920" cy="5120323"/>
          </a:xfrm>
          <a:prstGeom prst="rect">
            <a:avLst/>
          </a:prstGeom>
        </p:spPr>
      </p:pic>
    </p:spTree>
    <p:extLst>
      <p:ext uri="{BB962C8B-B14F-4D97-AF65-F5344CB8AC3E}">
        <p14:creationId xmlns:p14="http://schemas.microsoft.com/office/powerpoint/2010/main" val="2866824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2EA77-9001-9077-086C-12BE315F1665}"/>
              </a:ext>
            </a:extLst>
          </p:cNvPr>
          <p:cNvSpPr>
            <a:spLocks noGrp="1"/>
          </p:cNvSpPr>
          <p:nvPr>
            <p:ph type="title"/>
          </p:nvPr>
        </p:nvSpPr>
        <p:spPr>
          <a:xfrm>
            <a:off x="553720" y="18255"/>
            <a:ext cx="10515600" cy="1325563"/>
          </a:xfrm>
        </p:spPr>
        <p:txBody>
          <a:bodyPr>
            <a:normAutofit/>
          </a:bodyPr>
          <a:lstStyle/>
          <a:p>
            <a:r>
              <a:rPr lang="en-IN" sz="2800" b="1" dirty="0">
                <a:latin typeface="+mj-lt"/>
              </a:rPr>
              <a:t>Skill Gap</a:t>
            </a:r>
          </a:p>
        </p:txBody>
      </p:sp>
      <p:sp>
        <p:nvSpPr>
          <p:cNvPr id="3" name="Text Placeholder 2">
            <a:extLst>
              <a:ext uri="{FF2B5EF4-FFF2-40B4-BE49-F238E27FC236}">
                <a16:creationId xmlns:a16="http://schemas.microsoft.com/office/drawing/2014/main" id="{10513D30-F393-2106-CCB7-E4D57839EB84}"/>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DDCE5236-C566-2413-5F0F-A05AA6D3FABE}"/>
              </a:ext>
            </a:extLst>
          </p:cNvPr>
          <p:cNvPicPr>
            <a:picLocks noChangeAspect="1"/>
          </p:cNvPicPr>
          <p:nvPr/>
        </p:nvPicPr>
        <p:blipFill>
          <a:blip r:embed="rId2"/>
          <a:stretch>
            <a:fillRect/>
          </a:stretch>
        </p:blipFill>
        <p:spPr>
          <a:xfrm>
            <a:off x="1442720" y="1058642"/>
            <a:ext cx="8541086" cy="5321838"/>
          </a:xfrm>
          <a:prstGeom prst="rect">
            <a:avLst/>
          </a:prstGeom>
        </p:spPr>
      </p:pic>
    </p:spTree>
    <p:extLst>
      <p:ext uri="{BB962C8B-B14F-4D97-AF65-F5344CB8AC3E}">
        <p14:creationId xmlns:p14="http://schemas.microsoft.com/office/powerpoint/2010/main" val="3420272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8" name="Google Shape;138;p9"/>
          <p:cNvSpPr txBox="1"/>
          <p:nvPr/>
        </p:nvSpPr>
        <p:spPr>
          <a:xfrm>
            <a:off x="621792" y="458386"/>
            <a:ext cx="931773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Role of Agentic AI in the solution </a:t>
            </a:r>
            <a:endParaRPr sz="2800" b="1" i="0" u="none" strike="noStrike" cap="none" dirty="0">
              <a:solidFill>
                <a:srgbClr val="000000"/>
              </a:solidFill>
              <a:latin typeface="Arial"/>
              <a:ea typeface="Arial"/>
              <a:cs typeface="Arial"/>
              <a:sym typeface="Arial"/>
            </a:endParaRPr>
          </a:p>
        </p:txBody>
      </p:sp>
      <p:sp>
        <p:nvSpPr>
          <p:cNvPr id="139" name="Google Shape;139;p9"/>
          <p:cNvSpPr txBox="1"/>
          <p:nvPr/>
        </p:nvSpPr>
        <p:spPr>
          <a:xfrm>
            <a:off x="621792" y="1167493"/>
            <a:ext cx="7406640" cy="4708941"/>
          </a:xfrm>
          <a:prstGeom prst="rect">
            <a:avLst/>
          </a:prstGeom>
          <a:noFill/>
          <a:ln>
            <a:noFill/>
          </a:ln>
        </p:spPr>
        <p:txBody>
          <a:bodyPr spcFirstLastPara="1" wrap="square" lIns="91425" tIns="45700" rIns="91425" bIns="45700" anchor="t" anchorCtr="0">
            <a:spAutoFit/>
          </a:bodyPr>
          <a:lstStyle/>
          <a:p>
            <a:pPr algn="just"/>
            <a:r>
              <a:rPr lang="en-IN" sz="2000" dirty="0"/>
              <a:t>Agentic AI serves as the core intelligence of the proposed system by acting as an autonomous career advisor that continuously </a:t>
            </a:r>
            <a:r>
              <a:rPr lang="en-IN" sz="2000" dirty="0" err="1"/>
              <a:t>analyzes</a:t>
            </a:r>
            <a:r>
              <a:rPr lang="en-IN" sz="2000" dirty="0"/>
              <a:t> a student's academic performance, skills, interests, certifications, and project experience while monitoring real-time industry trends and job market demands. Using IBM Granite on IBM Cloud Lite, it reasons over this information to identify skill gaps, recommend suitable career paths, generate personalized learning roadmaps, and proactively update its suggestions as the student's profile or market conditions change. Unlike traditional career </a:t>
            </a:r>
            <a:r>
              <a:rPr lang="en-IN" sz="2000" dirty="0" err="1"/>
              <a:t>counseling</a:t>
            </a:r>
            <a:r>
              <a:rPr lang="en-IN" sz="2000" dirty="0"/>
              <a:t> or rule-based chatbots, the Agentic AI independently makes informed decisions, adapts to evolving data, and provides continuous, personalized guidance with minimal human intervention, enabling students to make confident and future-ready career decisions.</a:t>
            </a:r>
          </a:p>
        </p:txBody>
      </p:sp>
      <p:pic>
        <p:nvPicPr>
          <p:cNvPr id="2" name="Picture 1" descr="Think agentic AI is hard to secure today? Just wait a few months | CSO Online">
            <a:extLst>
              <a:ext uri="{FF2B5EF4-FFF2-40B4-BE49-F238E27FC236}">
                <a16:creationId xmlns:a16="http://schemas.microsoft.com/office/drawing/2014/main" id="{810E452B-B5B3-BF1A-77FB-599174AD10B4}"/>
              </a:ext>
            </a:extLst>
          </p:cNvPr>
          <p:cNvPicPr>
            <a:picLocks noChangeAspect="1"/>
          </p:cNvPicPr>
          <p:nvPr/>
        </p:nvPicPr>
        <p:blipFill>
          <a:blip r:embed="rId3"/>
          <a:stretch>
            <a:fillRect/>
          </a:stretch>
        </p:blipFill>
        <p:spPr>
          <a:xfrm>
            <a:off x="8229600" y="1473200"/>
            <a:ext cx="3606800" cy="375969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683828"/>
            <a:ext cx="712317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Novelty and Uniqueness</a:t>
            </a:r>
            <a:endParaRPr sz="28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777240" y="1207008"/>
            <a:ext cx="11301984" cy="4801274"/>
          </a:xfrm>
          <a:prstGeom prst="rect">
            <a:avLst/>
          </a:prstGeom>
          <a:noFill/>
          <a:ln>
            <a:noFill/>
          </a:ln>
        </p:spPr>
        <p:txBody>
          <a:bodyPr spcFirstLastPara="1" wrap="square" lIns="91425" tIns="45700" rIns="91425" bIns="45700" anchor="t" anchorCtr="0">
            <a:spAutoFit/>
          </a:bodyPr>
          <a:lstStyle/>
          <a:p>
            <a:br>
              <a:rPr lang="en-IN" sz="1800" dirty="0"/>
            </a:br>
            <a:r>
              <a:rPr lang="en-IN" sz="2400" dirty="0"/>
              <a:t>The proposed solution goes beyond traditional career guidance systems by leveraging Agentic AI to provide continuous, autonomous, and personalized career mentoring instead of one-time recommendations. Unlike conventional platforms that rely on static questionnaires or manual </a:t>
            </a:r>
            <a:r>
              <a:rPr lang="en-IN" sz="2400" dirty="0" err="1"/>
              <a:t>counseling</a:t>
            </a:r>
            <a:r>
              <a:rPr lang="en-IN" sz="2400" dirty="0"/>
              <a:t>, the system dynamically </a:t>
            </a:r>
            <a:r>
              <a:rPr lang="en-IN" sz="2400" dirty="0" err="1"/>
              <a:t>analyzes</a:t>
            </a:r>
            <a:r>
              <a:rPr lang="en-IN" sz="2400" dirty="0"/>
              <a:t> a student's academic progress, skills, interests, certifications, and real-time job market trends to generate and continuously update personalized career pathways and learning roadmaps. Powered by IBM Granite on IBM Cloud Lite, it proactively identifies skill gaps, recommends relevant courses and internships, and adapts its guidance as industry demands evolve. This intelligent, self-improving, and context-aware approach ensures students receive timely, data-driven career recommendations with minimal human intervention, making the solution highly innovative and future-ready.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056164" y="695767"/>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Git Hub Link</a:t>
            </a:r>
            <a:endParaRPr sz="2800" b="1" i="0" u="none" strike="noStrike" cap="none" dirty="0">
              <a:solidFill>
                <a:srgbClr val="000000"/>
              </a:solidFill>
              <a:latin typeface="Arial"/>
              <a:ea typeface="Arial"/>
              <a:cs typeface="Arial"/>
              <a:sym typeface="Arial"/>
            </a:endParaRPr>
          </a:p>
        </p:txBody>
      </p:sp>
      <p:sp>
        <p:nvSpPr>
          <p:cNvPr id="164" name="Google Shape;164;p41"/>
          <p:cNvSpPr/>
          <p:nvPr/>
        </p:nvSpPr>
        <p:spPr>
          <a:xfrm>
            <a:off x="1056164" y="188523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b="0" i="0" u="none" strike="noStrike" cap="none" dirty="0" err="1">
                <a:solidFill>
                  <a:srgbClr val="2B3541"/>
                </a:solidFill>
                <a:latin typeface="+mj-lt"/>
                <a:ea typeface="Times New Roman"/>
                <a:cs typeface="Times New Roman"/>
                <a:sym typeface="Times New Roman"/>
              </a:rPr>
              <a:t>Github</a:t>
            </a:r>
            <a:r>
              <a:rPr lang="en-US" sz="2000" b="0" i="0" u="none" strike="noStrike" cap="none" dirty="0">
                <a:solidFill>
                  <a:srgbClr val="2B3541"/>
                </a:solidFill>
                <a:latin typeface="+mj-lt"/>
                <a:ea typeface="Times New Roman"/>
                <a:cs typeface="Times New Roman"/>
                <a:sym typeface="Times New Roman"/>
              </a:rPr>
              <a:t> URL –</a:t>
            </a:r>
            <a:r>
              <a:rPr lang="en-US" sz="2000" dirty="0">
                <a:solidFill>
                  <a:srgbClr val="2B3541"/>
                </a:solidFill>
                <a:latin typeface="+mj-lt"/>
                <a:ea typeface="Times New Roman"/>
                <a:cs typeface="Times New Roman"/>
                <a:sym typeface="Times New Roman"/>
              </a:rPr>
              <a:t> </a:t>
            </a:r>
            <a:r>
              <a:rPr lang="en-US" sz="2000" dirty="0">
                <a:solidFill>
                  <a:srgbClr val="2B3541"/>
                </a:solidFill>
                <a:latin typeface="+mj-lt"/>
                <a:ea typeface="Times New Roman"/>
                <a:cs typeface="Times New Roman"/>
                <a:sym typeface="Times New Roman"/>
                <a:hlinkClick r:id="rId3" action="ppaction://hlinkfile"/>
              </a:rPr>
              <a:t>https://github.com/varun014d/careerai.git</a:t>
            </a:r>
            <a:endParaRPr sz="2000" dirty="0">
              <a:latin typeface="+mj-lt"/>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710724" y="286128"/>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Future Scope </a:t>
            </a:r>
            <a:endParaRPr sz="2800" b="1" i="0" u="none" strike="noStrike" cap="none" dirty="0">
              <a:solidFill>
                <a:srgbClr val="000000"/>
              </a:solidFill>
              <a:latin typeface="Arial"/>
              <a:ea typeface="Arial"/>
              <a:cs typeface="Arial"/>
              <a:sym typeface="Arial"/>
            </a:endParaRPr>
          </a:p>
        </p:txBody>
      </p:sp>
      <p:sp>
        <p:nvSpPr>
          <p:cNvPr id="173" name="Google Shape;173;p42"/>
          <p:cNvSpPr/>
          <p:nvPr/>
        </p:nvSpPr>
        <p:spPr>
          <a:xfrm>
            <a:off x="710724" y="904817"/>
            <a:ext cx="10922476" cy="5799135"/>
          </a:xfrm>
          <a:prstGeom prst="rect">
            <a:avLst/>
          </a:prstGeom>
          <a:noFill/>
          <a:ln>
            <a:noFill/>
          </a:ln>
        </p:spPr>
        <p:txBody>
          <a:bodyPr spcFirstLastPara="1" wrap="square" lIns="0" tIns="0" rIns="0" bIns="0" anchor="t" anchorCtr="0">
            <a:noAutofit/>
          </a:bodyPr>
          <a:lstStyle/>
          <a:p>
            <a:pPr algn="just"/>
            <a:endParaRPr lang="en-IN" sz="2000" b="1" dirty="0"/>
          </a:p>
          <a:p>
            <a:r>
              <a:rPr lang="en-IN" sz="2000" b="1" dirty="0"/>
              <a:t>Advanced AI Integration and Personalized </a:t>
            </a:r>
            <a:r>
              <a:rPr lang="en-IN" sz="2000" b="1" dirty="0" err="1"/>
              <a:t>CareerDevelopment</a:t>
            </a:r>
            <a:br>
              <a:rPr lang="en-IN" sz="2000" dirty="0"/>
            </a:br>
            <a:r>
              <a:rPr lang="en-IN" sz="2000" dirty="0"/>
              <a:t>The proposed Agentic AI Career Guidance System can be enhanced by integrating with college ERP, LMS, GitHub, LinkedIn, and online learning platforms to provide a unified student profile. Using IBM Granite, it can continuously </a:t>
            </a:r>
            <a:r>
              <a:rPr lang="en-IN" sz="2000" dirty="0" err="1"/>
              <a:t>analyze</a:t>
            </a:r>
            <a:r>
              <a:rPr lang="en-IN" sz="2000" dirty="0"/>
              <a:t> student progress, predict placement readiness, identify skill gaps, and generate personalized career roadmaps. Future enhancements include AI-powered resume analysis, mock interviews, internship and scholarship recommendations, and multilingual support. These improvements will make the system more intelligent, adaptive, and accessible for students' long-term career development.</a:t>
            </a:r>
          </a:p>
          <a:p>
            <a:pPr algn="just"/>
            <a:endParaRPr lang="en-IN" sz="2000" dirty="0"/>
          </a:p>
          <a:p>
            <a:pPr algn="just"/>
            <a:r>
              <a:rPr lang="en-IN" sz="2000" b="1" dirty="0"/>
              <a:t>Real-Time Industry Intelligence and Scalable Deployment</a:t>
            </a:r>
          </a:p>
          <a:p>
            <a:pPr algn="just"/>
            <a:r>
              <a:rPr lang="en-IN" sz="2000" dirty="0"/>
              <a:t>The system can be expanded to monitor real-time job market trends, emerging technologies, salary insights, and hiring demands through integration with job portals. It can proactively update career recommendations and learning paths based on changing industry requirements. The platform can be deployed across universities, training institutes, and organizations for career guidance and workforce development. With continuous learning from user feedback, it can evolve into a lifelong AI career companion that provides adaptive and future-ready guidance.</a:t>
            </a: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Certificates Earned:</a:t>
            </a:r>
            <a:endParaRPr sz="2800" dirty="0"/>
          </a:p>
          <a:p>
            <a:pPr marL="0" marR="0" lvl="0" indent="0" algn="ctr"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83" name="Google Shape;183;p43"/>
          <p:cNvSpPr txBox="1"/>
          <p:nvPr/>
        </p:nvSpPr>
        <p:spPr>
          <a:xfrm>
            <a:off x="3831879" y="301730"/>
            <a:ext cx="6389965" cy="400069"/>
          </a:xfrm>
          <a:prstGeom prst="rect">
            <a:avLst/>
          </a:prstGeom>
          <a:noFill/>
          <a:ln>
            <a:noFill/>
          </a:ln>
        </p:spPr>
        <p:txBody>
          <a:bodyPr spcFirstLastPara="1" wrap="square" lIns="91425" tIns="45700" rIns="91425" bIns="45700" anchor="t" anchorCtr="0">
            <a:spAutoFit/>
          </a:bodyPr>
          <a:lstStyle/>
          <a:p>
            <a:pPr lvl="0"/>
            <a:r>
              <a:rPr lang="en-IN" sz="2000" b="1" dirty="0"/>
              <a:t>Getting Started with Artificial Intelligence </a:t>
            </a:r>
            <a:endParaRPr sz="2000" b="1" dirty="0"/>
          </a:p>
        </p:txBody>
      </p:sp>
      <p:pic>
        <p:nvPicPr>
          <p:cNvPr id="4" name="Picture 3">
            <a:extLst>
              <a:ext uri="{FF2B5EF4-FFF2-40B4-BE49-F238E27FC236}">
                <a16:creationId xmlns:a16="http://schemas.microsoft.com/office/drawing/2014/main" id="{150B0055-1384-1E5D-F03C-0CCC9FCFCA6E}"/>
              </a:ext>
            </a:extLst>
          </p:cNvPr>
          <p:cNvPicPr>
            <a:picLocks noChangeAspect="1"/>
          </p:cNvPicPr>
          <p:nvPr/>
        </p:nvPicPr>
        <p:blipFill>
          <a:blip r:embed="rId3"/>
          <a:stretch>
            <a:fillRect/>
          </a:stretch>
        </p:blipFill>
        <p:spPr>
          <a:xfrm>
            <a:off x="1923484" y="873761"/>
            <a:ext cx="8345031" cy="587699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288456" y="231584"/>
            <a:ext cx="6096000" cy="73862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Certificates Earned:</a:t>
            </a:r>
            <a:r>
              <a:rPr lang="en-US" sz="2800" b="0" i="0" u="none" strike="noStrike" cap="none" dirty="0">
                <a:solidFill>
                  <a:srgbClr val="000000"/>
                </a:solidFill>
                <a:latin typeface="Arial"/>
                <a:ea typeface="Arial"/>
                <a:cs typeface="Arial"/>
                <a:sym typeface="Arial"/>
              </a:rPr>
              <a:t>​</a:t>
            </a:r>
            <a:endParaRPr sz="28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90" name="Google Shape;190;p44"/>
          <p:cNvSpPr txBox="1"/>
          <p:nvPr/>
        </p:nvSpPr>
        <p:spPr>
          <a:xfrm>
            <a:off x="3821703" y="320025"/>
            <a:ext cx="5437681" cy="400069"/>
          </a:xfrm>
          <a:prstGeom prst="rect">
            <a:avLst/>
          </a:prstGeom>
          <a:noFill/>
          <a:ln>
            <a:noFill/>
          </a:ln>
        </p:spPr>
        <p:txBody>
          <a:bodyPr spcFirstLastPara="1" wrap="square" lIns="91425" tIns="45700" rIns="91425" bIns="45700" anchor="t" anchorCtr="0">
            <a:spAutoFit/>
          </a:bodyPr>
          <a:lstStyle/>
          <a:p>
            <a:pPr lvl="0"/>
            <a:r>
              <a:rPr lang="en-IN" sz="2000" b="1" dirty="0"/>
              <a:t>Troubleshoot Your Code Using IBM Bob</a:t>
            </a:r>
            <a:endParaRPr b="1" dirty="0"/>
          </a:p>
        </p:txBody>
      </p:sp>
      <p:pic>
        <p:nvPicPr>
          <p:cNvPr id="3" name="Picture 2">
            <a:extLst>
              <a:ext uri="{FF2B5EF4-FFF2-40B4-BE49-F238E27FC236}">
                <a16:creationId xmlns:a16="http://schemas.microsoft.com/office/drawing/2014/main" id="{B2B54B6F-4E86-AA3F-9EFE-E62A5FD3FDF7}"/>
              </a:ext>
            </a:extLst>
          </p:cNvPr>
          <p:cNvPicPr>
            <a:picLocks noChangeAspect="1"/>
          </p:cNvPicPr>
          <p:nvPr/>
        </p:nvPicPr>
        <p:blipFill>
          <a:blip r:embed="rId3"/>
          <a:stretch>
            <a:fillRect/>
          </a:stretch>
        </p:blipFill>
        <p:spPr>
          <a:xfrm>
            <a:off x="1516415" y="941652"/>
            <a:ext cx="9159170" cy="56847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